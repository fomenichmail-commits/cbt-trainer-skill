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3258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E3F7"/>
                </a:solidFill>
                <a:latin typeface="Segoe UI"/>
              </a:rPr>
              <a:t>САО «ВСК» · Внутренний TechDay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Segoe UI"/>
              </a:rPr>
              <a:t>TechDay ВСК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A6E0"/>
                </a:solidFill>
                <a:latin typeface="Segoe UI"/>
              </a:rPr>
              <a:t>09.09.2026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657600"/>
            <a:ext cx="2743200" cy="45720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ИИ как способ Discovery для Product 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572000"/>
            <a:ext cx="1252728" cy="457200"/>
          </a:xfrm>
          <a:prstGeom prst="rect">
            <a:avLst/>
          </a:prstGeom>
          <a:solidFill>
            <a:srgbClr val="103C6E"/>
          </a:solidFill>
          <a:ln w="12700">
            <a:solidFill>
              <a:srgbClr val="25A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25272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GeoCum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68" y="4572000"/>
            <a:ext cx="1252728" cy="457200"/>
          </a:xfrm>
          <a:prstGeom prst="rect">
            <a:avLst/>
          </a:prstGeom>
          <a:solidFill>
            <a:srgbClr val="103C6E"/>
          </a:solidFill>
          <a:ln w="12700">
            <a:solidFill>
              <a:srgbClr val="25A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4572000"/>
            <a:ext cx="125272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GEOAIN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94175" y="4572000"/>
            <a:ext cx="4169663" cy="457200"/>
          </a:xfrm>
          <a:prstGeom prst="rect">
            <a:avLst/>
          </a:prstGeom>
          <a:solidFill>
            <a:srgbClr val="103C6E"/>
          </a:solidFill>
          <a:ln w="12700">
            <a:solidFill>
              <a:srgbClr val="25A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5" y="4572000"/>
            <a:ext cx="4169663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Веб-форма страхования грузов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FE3F7"/>
                </a:solidFill>
                <a:latin typeface="Segoe UI"/>
              </a:rPr>
              <a:t>3 ИИ-проекта · проблемы → решение · стек, CI/CD и интеграции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A4A"/>
                </a:solidFill>
                <a:latin typeface="Segoe UI"/>
              </a:rPr>
              <a:t>ИИ как способ Discovery для Product Owner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42415"/>
            <a:ext cx="1554480" cy="4114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TechDay ВСК · 09.09.2026 · ИИ-проекты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02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07008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E80"/>
                </a:solidFill>
                <a:latin typeface="Segoe UI"/>
              </a:rPr>
              <a:t>Быстрое моделирование задачи и мгновенная обратная связь от заказчика позволяют не ошибаться с БТ/ФТ: выявляем истинные боли, формулируем корректные требования, оцениваем сложность и трудоёмкость и подтверждаем гипотезу через MVP.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265176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2651760" cy="6400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01168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5A6E0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60604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2A4A"/>
                </a:solidFill>
                <a:latin typeface="Segoe UI"/>
              </a:rPr>
              <a:t>Моделирование задачи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520440"/>
            <a:ext cx="22128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Собираем описание проекта и прототип за минуты, сразу показываем заказчику и обсуждаем.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783080"/>
            <a:ext cx="265176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783080"/>
            <a:ext cx="2651760" cy="6400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7015" y="201168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5A6E0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5" y="260604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2A4A"/>
                </a:solidFill>
                <a:latin typeface="Segoe UI"/>
              </a:rPr>
              <a:t>Корректные БТ/ФТ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5" y="3520440"/>
            <a:ext cx="22128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Выявляем истинные боли и формулируем бизнес- и функциональные требования без неопределённости.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1783080"/>
            <a:ext cx="265176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1783080"/>
            <a:ext cx="2651760" cy="6400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201168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5A6E0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60604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2A4A"/>
                </a:solidFill>
                <a:latin typeface="Segoe UI"/>
              </a:rPr>
              <a:t>Оценка сложности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520440"/>
            <a:ext cx="22128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Описываем проект и заранее оцениваем сложность и трудоёмкость разработки.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399" y="1783080"/>
            <a:ext cx="265176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399" y="1783080"/>
            <a:ext cx="2651760" cy="6400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5" y="201168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5A6E0"/>
                </a:solidFill>
                <a:latin typeface="Sego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5" y="260604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2A4A"/>
                </a:solidFill>
                <a:latin typeface="Segoe UI"/>
              </a:rPr>
              <a:t>MVP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5" y="3520440"/>
            <a:ext cx="22128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Подтверждаем гипотезу работающим прототипом до вложений в продакшен.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9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760720"/>
            <a:ext cx="105796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E9A0"/>
                </a:solidFill>
                <a:latin typeface="Segoe UI"/>
              </a:rPr>
              <a:t>Как дальше: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3 проекта — в каждом 2 слайда: проблемы → решение.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A4A"/>
                </a:solidFill>
                <a:latin typeface="Segoe UI"/>
              </a:rPr>
              <a:t>Проект 1 · GeoCum — кумуляция рисков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42415"/>
            <a:ext cx="1554480" cy="4114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ПРОЕКТ 1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TechDay ВСК · 09.09.2026 · ИИ-проекты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03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54406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563624"/>
            <a:ext cx="5001768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1">
                <a:solidFill>
                  <a:srgbClr val="0B5FA5"/>
                </a:solidFill>
                <a:latin typeface="Segoe UI"/>
              </a:rPr>
              <a:t>Что решали — проблемы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При заключении договоров страхования юридических лиц нужно рассчитывать кумуляцию рисков.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Кумуляция — возможный совокупный ущерб по застрахованным объектам в одном инциденте.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Необходима для корректного принятия рисков: предельная кумуляция определяется объёмом облигатора.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54406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63624"/>
            <a:ext cx="5001768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1">
                <a:solidFill>
                  <a:srgbClr val="0A2A4A"/>
                </a:solidFill>
                <a:latin typeface="Segoe UI"/>
              </a:rPr>
              <a:t>Решение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Пайплайн: адрес ЮЛ → координаты и кадастровый номер (Дадата) → контур здания (НСПД / Росреестр) → расчёт кумуляции.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Кумуляция PD/BI по радиусам 25/50/75/100 м; режимы gross/net; конвертация валют (ЦБ РФ).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Веб-демо: ввод адреса → зона риска на карте, рекомендуемый радиус.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Отчёт XLSX + журнал действий для аудита.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9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623560"/>
            <a:ext cx="10579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E9A0"/>
                </a:solidFill>
                <a:latin typeface="Segoe UI"/>
              </a:rPr>
              <a:t>Итог: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работающий MVP за недели — гипотеза подтверждена, андеррайтеры получают данные для принятия решений.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A4A"/>
                </a:solidFill>
                <a:latin typeface="Segoe UI"/>
              </a:rPr>
              <a:t>GeoCum · Задачи со звёздочкой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42415"/>
            <a:ext cx="1554480" cy="4114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ПРОЕКТ 1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TechDay ВСК · 09.09.2026 · ИИ-проекты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04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09344"/>
            <a:ext cx="5001768" cy="3364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1">
                <a:solidFill>
                  <a:srgbClr val="E8A20A"/>
                </a:solidFill>
                <a:latin typeface="Segoe UI"/>
              </a:rPr>
              <a:t>★  Кумуляция от контура здания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Зона риска строится не от точки, а от реального контура здания (НСПД / Росреестр).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Учитывается фактическая геометрия объекта — точность оценки совокупного ущерба выше.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54406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609344"/>
            <a:ext cx="5001768" cy="3364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1">
                <a:solidFill>
                  <a:srgbClr val="E8A20A"/>
                </a:solidFill>
                <a:latin typeface="Segoe UI"/>
              </a:rPr>
              <a:t>★★  «Плоские» объекты и сооружения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Расчёт распространяется на сооружения различного типа: площадки, склады, инфраструктура.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Учёт протяжённой геометрии объектов вместо условной точки.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49240"/>
            <a:ext cx="11091672" cy="566928"/>
          </a:xfrm>
          <a:prstGeom prst="roundRect">
            <a:avLst>
              <a:gd name="adj" fmla="val 9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349240"/>
            <a:ext cx="10579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E9A0"/>
                </a:solidFill>
                <a:latin typeface="Segoe UI"/>
              </a:rPr>
              <a:t>Статус: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кумуляция от контура реализована в MVP; «плоские» объекты — следующий шаг к продакшену.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A4A"/>
                </a:solidFill>
                <a:latin typeface="Segoe UI"/>
              </a:rPr>
              <a:t>Проект 2 · GEOAIN — анализ стихийных явлений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42415"/>
            <a:ext cx="1554480" cy="4114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ПРОЕКТ 2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TechDay ВСК · 09.09.2026 · ИИ-проекты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05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54406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563624"/>
            <a:ext cx="5001768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1">
                <a:solidFill>
                  <a:srgbClr val="0B5FA5"/>
                </a:solidFill>
                <a:latin typeface="Segoe UI"/>
              </a:rPr>
              <a:t>Что решали — проблемы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Аналог уже существует у китайских страховых компаний — нужен собственный сервис.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Стихийные явления (осадки, ветер, заморозки, жара) → массовые убытки по портфелю.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По разнородным данным нужно прогнозировать тип события и площадь зоны.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54406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63624"/>
            <a:ext cx="5001768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1">
                <a:solidFill>
                  <a:srgbClr val="0A2A4A"/>
                </a:solidFill>
                <a:latin typeface="Segoe UI"/>
              </a:rPr>
              <a:t>Решение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Анализ метеоданных за последние 72 часа (Open-Meteo).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Детекция явлений по порогам → объединение в полигоны зон риска.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Пространственный join: компании в зоне и рядом → уровень угрозы.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Каталог явлений по этапам: MVP → пожары/паводки → землетрясения/оползни.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9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623560"/>
            <a:ext cx="10579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E9A0"/>
                </a:solidFill>
                <a:latin typeface="Segoe UI"/>
              </a:rPr>
              <a:t>Итог: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сквозной MVP — от данных до карты зон и оценок по компаниям — за короткий спринт.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A4A"/>
                </a:solidFill>
                <a:latin typeface="Segoe UI"/>
              </a:rPr>
              <a:t>GEOAIN · Задачи со звёздочкой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42415"/>
            <a:ext cx="1554480" cy="4114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ПРОЕКТ 2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TechDay ВСК · 09.09.2026 · ИИ-проекты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06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09344"/>
            <a:ext cx="5001768" cy="3364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1">
                <a:solidFill>
                  <a:srgbClr val="E8A20A"/>
                </a:solidFill>
                <a:latin typeface="Segoe UI"/>
              </a:rPr>
              <a:t>★  Компании в зоне события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Определяем перечень компаний в зоне события.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Выделяем застрахованных в ВСК — мгновенная оценка экспозиции портфеля.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54406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609344"/>
            <a:ext cx="5001768" cy="3364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1">
                <a:solidFill>
                  <a:srgbClr val="E8A20A"/>
                </a:solidFill>
                <a:latin typeface="Segoe UI"/>
              </a:rPr>
              <a:t>★★  Прогноз на 72 часа и рекомендации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ML-прогноз (LSTM / AR) на 72 часа вперёд.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Адресные рекомендации компаниям: как защитить активы до наступления события.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49240"/>
            <a:ext cx="11091672" cy="566928"/>
          </a:xfrm>
          <a:prstGeom prst="roundRect">
            <a:avLst>
              <a:gd name="adj" fmla="val 9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349240"/>
            <a:ext cx="10579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E9A0"/>
                </a:solidFill>
                <a:latin typeface="Segoe UI"/>
              </a:rPr>
              <a:t>Что дальше: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спутниковые данные (NASA FIRMS), паводок (GloFAS), интерфейс на Яндекс.Картах.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A4A"/>
                </a:solidFill>
                <a:latin typeface="Segoe UI"/>
              </a:rPr>
              <a:t>Проект 3 · Веб-форма страхования грузов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42415"/>
            <a:ext cx="1554480" cy="4114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ПРОЕКТ 3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TechDay ВСК · 09.09.2026 · ИИ-проекты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07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54406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563624"/>
            <a:ext cx="5001768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1">
                <a:solidFill>
                  <a:srgbClr val="0B5FA5"/>
                </a:solidFill>
                <a:latin typeface="Segoe UI"/>
              </a:rPr>
              <a:t>Что решали — проблемы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«Заявление на страхование грузов по Генеральному полису» — 18 разделов на бумаге/PDF.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Часы на заполнение, ошибки и расхождения у клиента и агента.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Данные разбросаны: страхователь, грузы, маршрут, перевозчики, охрана.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54406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63624"/>
            <a:ext cx="5001768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1">
                <a:solidFill>
                  <a:srgbClr val="0A2A4A"/>
                </a:solidFill>
                <a:latin typeface="Segoe UI"/>
              </a:rPr>
              <a:t>Решение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Цифровая веб-форма в фирменном стиле ВСК (дизайн-система, синяя гамма).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Два макета: «одна страница» с липким оглавлением и «пошаговый мастер» (6 шагов).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5A6E0"/>
                </a:solidFill>
                <a:latin typeface="Segoe UI"/>
              </a:rPr>
              <a:t>▪  </a:t>
            </a:r>
            <a:r>
              <a:rPr sz="1250">
                <a:solidFill>
                  <a:srgbClr val="222B35"/>
                </a:solidFill>
                <a:latin typeface="Segoe UI"/>
              </a:rPr>
              <a:t>Логика раскрытия подблоков и валидация; заготовки под справочники.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9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623560"/>
            <a:ext cx="10579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E9A0"/>
                </a:solidFill>
                <a:latin typeface="Segoe UI"/>
              </a:rPr>
              <a:t>Итог: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заказчик видит и подтверждает макет до написания кода — Discovery на практике.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A4A"/>
                </a:solidFill>
                <a:latin typeface="Segoe UI"/>
              </a:rPr>
              <a:t>Веб-форма · Следующие шаги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42415"/>
            <a:ext cx="1554480" cy="4114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5423" y="457200"/>
            <a:ext cx="1627632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ПРОЕКТ 3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TechDay ВСК · 09.09.2026 · ИИ-проекты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08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352044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463040"/>
            <a:ext cx="3520440" cy="6400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783080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2A4A"/>
                </a:solidFill>
                <a:latin typeface="Segoe UI"/>
              </a:rPr>
              <a:t>Справочники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560320"/>
            <a:ext cx="308152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Автоподстановка контрагентов по ИНН, виды грузов, география, документы-основания.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2816" y="1463040"/>
            <a:ext cx="352044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1463040"/>
            <a:ext cx="3520440" cy="6400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783080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2A4A"/>
                </a:solidFill>
                <a:latin typeface="Segoe UI"/>
              </a:rPr>
              <a:t>Черновик и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560320"/>
            <a:ext cx="308152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Сохранение черновика и экспорт PDF из заполненной формы.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36992" y="1463040"/>
            <a:ext cx="352044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36992" y="1463040"/>
            <a:ext cx="3520440" cy="6400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1783080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2A4A"/>
                </a:solidFill>
                <a:latin typeface="Segoe UI"/>
              </a:rPr>
              <a:t>Генерация документа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560320"/>
            <a:ext cx="308152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ИИ формирует заявление в Word по шаблону из ответов формы.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9240"/>
            <a:ext cx="11091672" cy="566928"/>
          </a:xfrm>
          <a:prstGeom prst="roundRect">
            <a:avLst>
              <a:gd name="adj" fmla="val 9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349240"/>
            <a:ext cx="10579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E9A0"/>
                </a:solidFill>
                <a:latin typeface="Segoe UI"/>
              </a:rPr>
              <a:t>Принцип: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видимый макет → подтверждение заказчика → разработка.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A4A"/>
                </a:solidFill>
                <a:latin typeface="Segoe UI"/>
              </a:rPr>
              <a:t>Стек, CI/CD и интеграции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42415"/>
            <a:ext cx="1554480" cy="4114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TechDay ВСК · 09.09.2026 · ИИ-проекты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09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A6E0"/>
                </a:solidFill>
                <a:latin typeface="Segoe UI"/>
              </a:rPr>
              <a:t>СТЕК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25880"/>
            <a:ext cx="9528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95280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FA5"/>
                </a:solidFill>
                <a:latin typeface="Segoe U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9460" y="1325880"/>
            <a:ext cx="19156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9460" y="1325880"/>
            <a:ext cx="191566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FA5"/>
                </a:solidFill>
                <a:latin typeface="Segoe UI"/>
              </a:rPr>
              <a:t>FastAPI / Flask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3144" y="1325880"/>
            <a:ext cx="159471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3144" y="1325880"/>
            <a:ext cx="1594713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FA5"/>
                </a:solidFill>
                <a:latin typeface="Segoe UI"/>
              </a:rPr>
              <a:t>Angular / 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5874" y="1325880"/>
            <a:ext cx="24505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5874" y="1325880"/>
            <a:ext cx="2450592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FA5"/>
                </a:solidFill>
                <a:latin typeface="Segoe UI"/>
              </a:rPr>
              <a:t>PostgreSQL / PostGIS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4482" y="1325880"/>
            <a:ext cx="105978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4482" y="1325880"/>
            <a:ext cx="1059789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FA5"/>
                </a:solidFill>
                <a:latin typeface="Segoe UI"/>
              </a:rPr>
              <a:t>PyTorch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62288" y="1325880"/>
            <a:ext cx="2129637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1325880"/>
            <a:ext cx="2129637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FA5"/>
                </a:solidFill>
                <a:latin typeface="Segoe UI"/>
              </a:rPr>
              <a:t>GeoJSON / Leaflet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A6E0"/>
                </a:solidFill>
                <a:latin typeface="Segoe UI"/>
              </a:rPr>
              <a:t>CI/CD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176272"/>
            <a:ext cx="127375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76272"/>
            <a:ext cx="1273759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FA5"/>
                </a:solidFill>
                <a:latin typeface="Segoe UI"/>
              </a:rPr>
              <a:t>GitLab 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50415" y="2176272"/>
            <a:ext cx="180868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50415" y="2176272"/>
            <a:ext cx="1808683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FA5"/>
                </a:solidFill>
                <a:latin typeface="Segoe UI"/>
              </a:rPr>
              <a:t>GitHub 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7114" y="2176272"/>
            <a:ext cx="127375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7114" y="2176272"/>
            <a:ext cx="1273759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FA5"/>
                </a:solidFill>
                <a:latin typeface="Segoe UI"/>
              </a:rPr>
              <a:t>Entire.io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7004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E80"/>
                </a:solidFill>
                <a:latin typeface="Segoe UI"/>
              </a:rPr>
              <a:t>Весь цикл автоматизирован: задача → код → ревью → тесты → релиз; Entire.io — ИИ-агент, который ведёт разработку автономно.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0540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A6E0"/>
                </a:solidFill>
                <a:latin typeface="Segoe UI"/>
              </a:rPr>
              <a:t>ИНТЕГРАЦИИ В ПРОЕКТАХ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383280"/>
            <a:ext cx="35204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611880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A4A"/>
                </a:solidFill>
                <a:latin typeface="Segoe UI"/>
              </a:rPr>
              <a:t>GeoCum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069080"/>
            <a:ext cx="308152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Дадата — геокодирование адресов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НСПД / Росреестр (pynspd) — контуры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ЦБ РФ — курсы валют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PostGIS — пространственные данные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Leaflet — веб-демо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2816" y="3383280"/>
            <a:ext cx="35204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2272" y="3611880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A4A"/>
                </a:solidFill>
                <a:latin typeface="Segoe UI"/>
              </a:rPr>
              <a:t>GEOAIN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4069080"/>
            <a:ext cx="308152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Open-Meteo — метеоданные / DEM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NASA FIRMS — пожары (спутник)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GloFAS — паводок, речной сток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Яндекс.Карты — интерфейс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PyTorch — LSTM-прогноз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36992" y="3383280"/>
            <a:ext cx="35204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3611880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A4A"/>
                </a:solidFill>
                <a:latin typeface="Segoe UI"/>
              </a:rPr>
              <a:t>Веб-форма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4069080"/>
            <a:ext cx="308152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Справочники — следующий этап: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Контрагенты · Виды грузов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География · Документы-основания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Сотрудники ВСК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A6E0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22B35"/>
                </a:solidFill>
                <a:latin typeface="Segoe UI"/>
              </a:rPr>
              <a:t>Экспорт PDF / Word по шаблону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A4A"/>
                </a:solidFill>
                <a:latin typeface="Segoe UI"/>
              </a:rPr>
              <a:t>ИИ для ПО и промышленной разработки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42415"/>
            <a:ext cx="1554480" cy="41148"/>
          </a:xfrm>
          <a:prstGeom prst="rect">
            <a:avLst/>
          </a:prstGeom>
          <a:solidFill>
            <a:srgbClr val="25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TechDay ВСК · 09.09.2026 · ИИ-проекты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80"/>
                </a:solidFill>
                <a:latin typeface="Segoe UI"/>
              </a:rPr>
              <a:t>10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0700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E80"/>
                </a:solidFill>
                <a:latin typeface="Segoe UI"/>
              </a:rPr>
              <a:t>Где ИИ даёт максимум — от идеи до эксплуатации.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46811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65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A2A4A"/>
                </a:solidFill>
                <a:latin typeface="Segoe UI"/>
              </a:rPr>
              <a:t>01 ·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96312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Моделирование задачи, корректные БТ/ФТ, оценка сложности и трудоёмкости, подтверждение гипотезы через MVP.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83080"/>
            <a:ext cx="546811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65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A2A4A"/>
                </a:solidFill>
                <a:latin typeface="Segoe UI"/>
              </a:rPr>
              <a:t>02 · Код и качество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496312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Генерация кода, код-ревью, unit-тесты, CI/CD, документация — быстрее, без потери качества.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03904"/>
            <a:ext cx="546811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98678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A2A4A"/>
                </a:solidFill>
                <a:latin typeface="Segoe UI"/>
              </a:rPr>
              <a:t>03 · Данные и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517136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Разнородные данные (метео, гео, реестры, документы), обучение моделей, прогнозы и рекомендации.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803904"/>
            <a:ext cx="546811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98678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A2A4A"/>
                </a:solidFill>
                <a:latin typeface="Segoe UI"/>
              </a:rPr>
              <a:t>04 · Эксплуатация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517136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5"/>
                </a:solidFill>
                <a:latin typeface="Segoe UI"/>
              </a:rPr>
              <a:t>Мониторинг, разбор инцидентов, генерация отчётов и метрик для управления продуктом.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70448"/>
            <a:ext cx="11091672" cy="502920"/>
          </a:xfrm>
          <a:prstGeom prst="roundRect">
            <a:avLst>
              <a:gd name="adj" fmla="val 9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870448"/>
            <a:ext cx="105796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E9A0"/>
                </a:solidFill>
                <a:latin typeface="Segoe UI"/>
              </a:rPr>
              <a:t>Вывод: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ИИ — инструмент Product Owner: быстрее понять заказчика, дешевле проверить гипотезу, быстрее довести до продакшена.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TechDay ВСК 09.09.2026 — ИИ-проекты</dc:title>
  <dc:subject/>
  <dc:creator>ВСК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